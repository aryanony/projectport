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6C66"/>
    <a:srgbClr val="0A2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-516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90A89-1EB7-463D-A2FA-4A35E7E01D5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BB525-82E2-4585-B711-803B8ACF9B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142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9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chemeClr val="bg1"/>
          </a:solidFill>
          <a:ln w="12700">
            <a:solidFill>
              <a:srgbClr val="126C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566160" y="0"/>
            <a:ext cx="411480" cy="5143500"/>
          </a:xfrm>
          <a:prstGeom prst="rect">
            <a:avLst/>
          </a:prstGeom>
          <a:solidFill>
            <a:srgbClr val="0D4F4A"/>
          </a:solidFill>
          <a:ln w="12700">
            <a:solidFill>
              <a:srgbClr val="0D4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840480" cy="10972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28600" y="16002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2860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0742" y="2441448"/>
            <a:ext cx="29275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platform for managing client</a:t>
            </a:r>
            <a:endParaRPr lang="en-US" sz="1200" b="1" dirty="0">
              <a:solidFill>
                <a:srgbClr val="0A293C"/>
              </a:solidFill>
            </a:endParaRPr>
          </a:p>
          <a:p>
            <a:pPr marL="0" indent="0" algn="just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automated quotations &amp; seamless</a:t>
            </a:r>
            <a:endParaRPr lang="en-US" sz="1200" b="1" dirty="0">
              <a:solidFill>
                <a:srgbClr val="0A293C"/>
              </a:solidFill>
            </a:endParaRPr>
          </a:p>
          <a:p>
            <a:pPr marL="0" indent="0" algn="just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delivery.</a:t>
            </a:r>
            <a:endParaRPr lang="en-US" sz="1200" b="1" dirty="0">
              <a:solidFill>
                <a:srgbClr val="0A293C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33088" y="621792"/>
            <a:ext cx="4754880" cy="512064"/>
          </a:xfrm>
          <a:prstGeom prst="rect">
            <a:avLst/>
          </a:prstGeom>
          <a:solidFill>
            <a:srgbClr val="0D3A50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685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6858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ProjectPort – Project Management Platform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33088" y="1207008"/>
            <a:ext cx="4754880" cy="512064"/>
          </a:xfrm>
          <a:prstGeom prst="rect">
            <a:avLst/>
          </a:prstGeom>
          <a:solidFill>
            <a:srgbClr val="0B2F42"/>
          </a:solidFill>
          <a:ln w="12700">
            <a:solidFill>
              <a:srgbClr val="0D4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251960" y="12710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12710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IBM PBEL (Web </a:t>
            </a: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Dev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33088" y="1792224"/>
            <a:ext cx="4754880" cy="512064"/>
          </a:xfrm>
          <a:prstGeom prst="rect">
            <a:avLst/>
          </a:prstGeom>
          <a:solidFill>
            <a:srgbClr val="0D3A50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8562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18562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Gupta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33088" y="2377440"/>
            <a:ext cx="4754880" cy="512064"/>
          </a:xfrm>
          <a:prstGeom prst="rect">
            <a:avLst/>
          </a:prstGeom>
          <a:solidFill>
            <a:srgbClr val="0B2F42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24414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24414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Web Development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33088" y="2962656"/>
            <a:ext cx="4754880" cy="512064"/>
          </a:xfrm>
          <a:prstGeom prst="rect">
            <a:avLst/>
          </a:prstGeom>
          <a:solidFill>
            <a:srgbClr val="0D3A50"/>
          </a:solidFill>
          <a:ln w="12700">
            <a:solidFill>
              <a:srgbClr val="0D4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251960" y="30266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/ Mentor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30266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</a:t>
            </a: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Naina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Ma’am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33088" y="3547872"/>
            <a:ext cx="4754880" cy="512064"/>
          </a:xfrm>
          <a:prstGeom prst="rect">
            <a:avLst/>
          </a:prstGeom>
          <a:solidFill>
            <a:srgbClr val="0B2F42"/>
          </a:solidFill>
          <a:ln w="12700">
            <a:solidFill>
              <a:srgbClr val="0D4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251960" y="36118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36118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PBEL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33088" y="4133088"/>
            <a:ext cx="4754880" cy="512064"/>
          </a:xfrm>
          <a:prstGeom prst="rect">
            <a:avLst/>
          </a:prstGeom>
          <a:solidFill>
            <a:srgbClr val="0D3A50"/>
          </a:solidFill>
          <a:ln w="12700">
            <a:solidFill>
              <a:srgbClr val="0D4F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251960" y="41970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41970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33088" y="4709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projectsport.vercel.app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ProjectPort  |  Full Stack Project Management Platform</a:t>
            </a:r>
            <a:endParaRPr lang="en-US" sz="100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862" y="54864"/>
            <a:ext cx="3559302" cy="35593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1828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1005840"/>
            <a:ext cx="4160520" cy="3657600"/>
          </a:xfrm>
          <a:prstGeom prst="rect">
            <a:avLst/>
          </a:prstGeom>
          <a:solidFill>
            <a:srgbClr val="0A293C"/>
          </a:solidFill>
          <a:ln w="12700">
            <a:solidFill>
              <a:srgbClr val="0A293C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005840"/>
            <a:ext cx="4160520" cy="38404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Background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ProjectPort is an intelligent, full-stack project management and client interaction platform. Designed specifically for development agencies, freelancers, and project-based businesses, it streamlines the entire project lifecycle — from the first client inquiry all the way to final delivery.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18 on the frontend and Node.js/Express on the backend, with a MySQL database, ProjectPort automates quotations, manages leads, and enables real-time collaboration between clients, admins, and developers.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Why This Topic?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44475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44752"/>
            <a:ext cx="64008" cy="438912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4996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demand for remote &amp; freelance project work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99339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993392"/>
            <a:ext cx="64008" cy="438912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20482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all-in-one platform for inquiry → delivery workflow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54203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542032"/>
            <a:ext cx="64008" cy="438912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5968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quotation processes waste time &amp; cause errors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09067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090672"/>
            <a:ext cx="64008" cy="438912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1455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lack visibility into project progress &amp; payments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730752"/>
            <a:ext cx="4114800" cy="91440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19472" y="3785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Problem Domain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9472" y="40782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agencies lose leads due to slow quote turnarounds and fragmented communication channels.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ProjectPort  |  Introduction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9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713232"/>
          </a:xfrm>
          <a:prstGeom prst="rect">
            <a:avLst/>
          </a:prstGeom>
          <a:solidFill>
            <a:srgbClr val="0D4F4A"/>
          </a:solidFill>
          <a:ln w="12700">
            <a:solidFill>
              <a:srgbClr val="126C66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0584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agencies and freelancers lack a unified digital platform that handles the full project lifecycle — from capturing client inquiries and generating accurate quotations to managing milestones, payments, and delivery tracking — leading to revenue loss and poor client experience.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2633472" cy="2606040"/>
          </a:xfrm>
          <a:prstGeom prst="rect">
            <a:avLst/>
          </a:prstGeom>
          <a:solidFill>
            <a:srgbClr val="0D3A50"/>
          </a:solidFill>
          <a:ln w="12700">
            <a:solidFill>
              <a:srgbClr val="F44143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47088"/>
            <a:ext cx="2633472" cy="457200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9110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Fragmented Workflow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414016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inquiries, pricing, project tracking, and payments managed across disconnected tools — email, spreadsheets, WhatsApp.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64408" y="1847088"/>
            <a:ext cx="2633472" cy="2606040"/>
          </a:xfrm>
          <a:prstGeom prst="rect">
            <a:avLst/>
          </a:prstGeom>
          <a:solidFill>
            <a:srgbClr val="0D3A50"/>
          </a:solidFill>
          <a:ln w="12700">
            <a:solidFill>
              <a:srgbClr val="126C66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847088"/>
            <a:ext cx="2633472" cy="45720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19110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Manual Quotation Errors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74136" y="2414016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calculating project prices is slow, inconsistent, and error-prone, leading to underpricing or client disputes.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71616" y="1847088"/>
            <a:ext cx="2633472" cy="2606040"/>
          </a:xfrm>
          <a:prstGeom prst="rect">
            <a:avLst/>
          </a:prstGeom>
          <a:solidFill>
            <a:srgbClr val="0D3A50"/>
          </a:solidFill>
          <a:ln w="12700">
            <a:solidFill>
              <a:srgbClr val="F44143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1847088"/>
            <a:ext cx="2633472" cy="457200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19110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Zero Visibility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81344" y="2414016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have no real-time view of project status, milestone progress, or payment schedules after signing up.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Solving this saves hours per lead, prevents revenue loss, and delivers a professional client experience.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ProjectPort  |  Problem Statement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1828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987552"/>
            <a:ext cx="8412480" cy="621792"/>
          </a:xfrm>
          <a:prstGeom prst="rect">
            <a:avLst/>
          </a:prstGeom>
          <a:solidFill>
            <a:srgbClr val="0A293C"/>
          </a:solidFill>
          <a:ln w="12700">
            <a:solidFill>
              <a:srgbClr val="0A293C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87552"/>
            <a:ext cx="64008" cy="621792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4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Main Goal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26187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intelligent, automated full-stack project management platform that unifies client inquiry, quotation, delivery and payment tracking in one seamless product.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1810512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810512"/>
            <a:ext cx="2743200" cy="54864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1975104"/>
            <a:ext cx="384048" cy="38404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78408" y="1993392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Project Wizard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" y="243230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intelligent form with real-time price calculation for web, mobile, e-commerce &amp; custom projects.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36976" y="1810512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36976" y="1810512"/>
            <a:ext cx="2743200" cy="54864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46704" y="1975104"/>
            <a:ext cx="384048" cy="38404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46704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31336" y="1993392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Quotation Engine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46704" y="243230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Excel-driven pricing rules → JSON config for instant, accurate cost estimation with detailed breakdowns.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9904" y="1810512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9904" y="1810512"/>
            <a:ext cx="2743200" cy="54864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1975104"/>
            <a:ext cx="384048" cy="38404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84264" y="1993392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Lead Management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9632" y="243230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Capture, review &amp; convert leads to active projects with one-click automated client account creation.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4048" y="3319272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" y="3319272"/>
            <a:ext cx="2743200" cy="54864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" y="3483864"/>
            <a:ext cx="384048" cy="38404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78408" y="3502152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Dashboards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" y="394106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Admin dashboards with real-time project status, payment tracking and business analytics.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36976" y="3319272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36976" y="3319272"/>
            <a:ext cx="2743200" cy="54864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46704" y="3483864"/>
            <a:ext cx="384048" cy="38404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46704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831336" y="3502152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&amp; Payment System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346704" y="394106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tracking, payment schedules, invoice management, document sharing and activity logs.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89904" y="3319272"/>
            <a:ext cx="27432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89904" y="3319272"/>
            <a:ext cx="2743200" cy="54864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99632" y="3483864"/>
            <a:ext cx="384048" cy="38404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684264" y="3502152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 &amp; RBAC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99632" y="394106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for Clients, Admins &amp; Developers with bcrypt password hashing.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ProjectPort  |  Objectives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9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/ Existing Systems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402336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40280" y="1078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Offers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6280" y="1078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444752"/>
            <a:ext cx="8229600" cy="512064"/>
          </a:xfrm>
          <a:prstGeom prst="rect">
            <a:avLst/>
          </a:prstGeom>
          <a:solidFill>
            <a:srgbClr val="0D3A50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8132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0280" y="14813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talent marketplace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148132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fee; poor fit for agency-client workflows; no project wizard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993392"/>
            <a:ext cx="8229600" cy="512064"/>
          </a:xfrm>
          <a:prstGeom prst="rect">
            <a:avLst/>
          </a:prstGeom>
          <a:solidFill>
            <a:srgbClr val="0B2F42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2996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Fiverr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40280" y="202996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Gig-based service marketplace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202996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model not suited for complex custom projects; no inquiry tracking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42032"/>
            <a:ext cx="8229600" cy="512064"/>
          </a:xfrm>
          <a:prstGeom prst="rect">
            <a:avLst/>
          </a:prstGeom>
          <a:solidFill>
            <a:srgbClr val="0D3A50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57860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Freelancer.com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40280" y="25786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bidding platform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257860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Overcrowded; spam bids; no automated pricing; no milestone control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90672"/>
            <a:ext cx="8229600" cy="512064"/>
          </a:xfrm>
          <a:prstGeom prst="rect">
            <a:avLst/>
          </a:prstGeom>
          <a:solidFill>
            <a:srgbClr val="0B2F42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2724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ClickUp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40280" y="31272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project management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26280" y="312724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client-facing portal; no lead capture; no quotation engine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639312"/>
            <a:ext cx="8229600" cy="512064"/>
          </a:xfrm>
          <a:prstGeom prst="rect">
            <a:avLst/>
          </a:prstGeom>
          <a:solidFill>
            <a:srgbClr val="0D3A50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6758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Emails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40280" y="36758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most small agencies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26280" y="367588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automation; manual pricing; no tracking; unprofessional experience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315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Research References: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5902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 (2024): Freelance Platform Market Report  •  IEEE (2022): Microservice Architecture Patterns  •  Sommerville, I. (2016): Software Engineering, 10th 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ProjectPort  |  Literature Review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1828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– ProjectPort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969264"/>
            <a:ext cx="8412480" cy="65836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0058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ProjectPort replaces fragmented tools with a single unified platform covering the complete journey: Inquiry → Quotation → Lead Management → Project Execution → Milestone Tracking → Payment → Delivery.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792224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792224"/>
            <a:ext cx="2743200" cy="47548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8562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CLIENT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" y="2395728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project inquiries via wizard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3776" y="297180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instant automated quotations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776" y="354787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project progress in real-time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3776" y="4123944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payments &amp; view invoices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36976" y="1792224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36976" y="1792224"/>
            <a:ext cx="2743200" cy="475488"/>
          </a:xfrm>
          <a:prstGeom prst="rect">
            <a:avLst/>
          </a:prstGeom>
          <a:solidFill>
            <a:srgbClr val="0A293C"/>
          </a:solidFill>
          <a:ln w="12700">
            <a:solidFill>
              <a:srgbClr val="0A29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46704" y="18562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ADMIN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46704" y="2395728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qualify all incoming leads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46704" y="297180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convert lead → project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46704" y="354787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teams, set milestones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46704" y="4123944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analytics &amp; pipeline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9904" y="1792224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9904" y="1792224"/>
            <a:ext cx="2743200" cy="47548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18562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👨‍💻  DEVELOPER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99632" y="2395728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4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assigned project tasks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99632" y="297180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4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milestone progress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99632" y="354787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4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tools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99632" y="4123944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4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(Coming Soon — full feature set)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84048" y="4617720"/>
            <a:ext cx="8412480" cy="201168"/>
          </a:xfrm>
          <a:prstGeom prst="rect">
            <a:avLst/>
          </a:prstGeom>
          <a:solidFill>
            <a:srgbClr val="0A293C"/>
          </a:solidFill>
          <a:ln w="12700">
            <a:solidFill>
              <a:srgbClr val="0A29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6268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KEY IMPROVEMENT: Single platform replaces 5+ disconnected tools — saving time, reducing errors and boosting client trust.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ProjectPort  |  Proposed System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9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/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229600" cy="475488"/>
          </a:xfrm>
          <a:prstGeom prst="rect">
            <a:avLst/>
          </a:prstGeom>
          <a:solidFill>
            <a:srgbClr val="0D4F4A"/>
          </a:solidFill>
          <a:ln w="12700">
            <a:solidFill>
              <a:srgbClr val="126C6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6984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CLIENT LAYER  —  React 18 + Vite  |  Tailwind CSS  |  React Router v6  |  Context 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481328"/>
            <a:ext cx="365760" cy="237744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4813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8229600" cy="475488"/>
          </a:xfrm>
          <a:prstGeom prst="rect">
            <a:avLst/>
          </a:prstGeom>
          <a:solidFill>
            <a:srgbClr val="0F4C47"/>
          </a:solidFill>
          <a:ln w="12700">
            <a:solidFill>
              <a:srgbClr val="126C6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181965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API GATEWAY  —  Express.js 4.x  |  REST API  |  CORS  |  JWT Auth Middleware  |  Helmet Security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231136"/>
            <a:ext cx="365760" cy="237744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23113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487168"/>
            <a:ext cx="1920240" cy="658368"/>
          </a:xfrm>
          <a:prstGeom prst="rect">
            <a:avLst/>
          </a:prstGeom>
          <a:solidFill>
            <a:srgbClr val="0D3A50"/>
          </a:solidFill>
          <a:ln w="12700">
            <a:solidFill>
              <a:srgbClr val="126C6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5420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42032" y="2487168"/>
            <a:ext cx="1920240" cy="658368"/>
          </a:xfrm>
          <a:prstGeom prst="rect">
            <a:avLst/>
          </a:prstGeom>
          <a:solidFill>
            <a:srgbClr val="0D3A50"/>
          </a:solidFill>
          <a:ln w="12700">
            <a:solidFill>
              <a:srgbClr val="F4414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42032" y="25420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capture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2487168"/>
            <a:ext cx="1920240" cy="658368"/>
          </a:xfrm>
          <a:prstGeom prst="rect">
            <a:avLst/>
          </a:prstGeom>
          <a:solidFill>
            <a:srgbClr val="0D3A50"/>
          </a:solidFill>
          <a:ln w="12700">
            <a:solidFill>
              <a:srgbClr val="126C6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26864" y="25420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11696" y="2487168"/>
            <a:ext cx="1920240" cy="658368"/>
          </a:xfrm>
          <a:prstGeom prst="rect">
            <a:avLst/>
          </a:prstGeom>
          <a:solidFill>
            <a:srgbClr val="0D3A50"/>
          </a:solidFill>
          <a:ln w="12700">
            <a:solidFill>
              <a:srgbClr val="F4414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11696" y="25420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0" y="3163824"/>
            <a:ext cx="365760" cy="237744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31638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▼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419856"/>
            <a:ext cx="8229600" cy="475488"/>
          </a:xfrm>
          <a:prstGeom prst="rect">
            <a:avLst/>
          </a:prstGeom>
          <a:solidFill>
            <a:srgbClr val="0D4F4A"/>
          </a:solidFill>
          <a:ln w="12700">
            <a:solidFill>
              <a:srgbClr val="126C6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350215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 LAYER  —  MySQL 8.0  |  mysql2 driver  |  Parameterized queries  |  Connection Pooling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023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37360" y="402336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Browser  →  React Router  →  Page Component  →  Fetch API  →  Express Route  →  Auth Middleware  →  MySQL  →  JSON Response  →  State Update  →  UI Render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407408"/>
            <a:ext cx="8229600" cy="29260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44398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  User Management  |  Lead Pipeline  |  Project Management  |  Milestone Tracker  |  Payment Engine  |  Notifications  |  SEO/PWA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ProjectPort  |  System Architecture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1828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987552"/>
            <a:ext cx="2743200" cy="47548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42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Frontend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" y="153619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536192"/>
            <a:ext cx="64008" cy="45720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5819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18.2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58568" y="160020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048256"/>
            <a:ext cx="2743200" cy="457200"/>
          </a:xfrm>
          <a:prstGeom prst="rect">
            <a:avLst/>
          </a:prstGeom>
          <a:solidFill>
            <a:srgbClr val="D4EFED"/>
          </a:solidFill>
          <a:ln w="12700">
            <a:solidFill>
              <a:srgbClr val="D4EF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048256"/>
            <a:ext cx="64008" cy="45720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0939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58568" y="211226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256032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560320"/>
            <a:ext cx="64008" cy="45720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606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3.x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58568" y="262432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072384"/>
            <a:ext cx="2743200" cy="457200"/>
          </a:xfrm>
          <a:prstGeom prst="rect">
            <a:avLst/>
          </a:prstGeom>
          <a:solidFill>
            <a:srgbClr val="D4EFED"/>
          </a:solidFill>
          <a:ln w="12700">
            <a:solidFill>
              <a:srgbClr val="D4EF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072384"/>
            <a:ext cx="64008" cy="45720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1181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58568" y="313639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" y="3584448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584448"/>
            <a:ext cx="64008" cy="45720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3630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Helmet Async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58568" y="364845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" y="4096512"/>
            <a:ext cx="2743200" cy="457200"/>
          </a:xfrm>
          <a:prstGeom prst="rect">
            <a:avLst/>
          </a:prstGeom>
          <a:solidFill>
            <a:srgbClr val="D4EFED"/>
          </a:solidFill>
          <a:ln w="12700">
            <a:solidFill>
              <a:srgbClr val="D4EF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4096512"/>
            <a:ext cx="64008" cy="45720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4142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58568" y="41605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36976" y="987552"/>
            <a:ext cx="2743200" cy="47548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1042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236976" y="153619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36976" y="1536192"/>
            <a:ext cx="64008" cy="457200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74136" y="15819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20.x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11496" y="160020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36976" y="2048256"/>
            <a:ext cx="2743200" cy="457200"/>
          </a:xfrm>
          <a:prstGeom prst="rect">
            <a:avLst/>
          </a:prstGeom>
          <a:solidFill>
            <a:srgbClr val="D4EFED"/>
          </a:solidFill>
          <a:ln w="12700">
            <a:solidFill>
              <a:srgbClr val="D4EF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36976" y="2048256"/>
            <a:ext cx="64008" cy="457200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74136" y="20939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4.x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11496" y="211226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36976" y="256032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36976" y="2560320"/>
            <a:ext cx="64008" cy="457200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74136" y="2606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11496" y="262432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36976" y="3072384"/>
            <a:ext cx="2743200" cy="457200"/>
          </a:xfrm>
          <a:prstGeom prst="rect">
            <a:avLst/>
          </a:prstGeom>
          <a:solidFill>
            <a:srgbClr val="D4EFED"/>
          </a:solidFill>
          <a:ln w="12700">
            <a:solidFill>
              <a:srgbClr val="D4EF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36976" y="3072384"/>
            <a:ext cx="64008" cy="457200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74136" y="31181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bcrypt.js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111496" y="313639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36976" y="3584448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36976" y="3584448"/>
            <a:ext cx="64008" cy="457200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74136" y="3630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111496" y="364845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36976" y="4096512"/>
            <a:ext cx="2743200" cy="457200"/>
          </a:xfrm>
          <a:prstGeom prst="rect">
            <a:avLst/>
          </a:prstGeom>
          <a:solidFill>
            <a:srgbClr val="D4EFED"/>
          </a:solidFill>
          <a:ln w="12700">
            <a:solidFill>
              <a:srgbClr val="D4EF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36976" y="4096512"/>
            <a:ext cx="64008" cy="457200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74136" y="4142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/ Helmet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111496" y="41605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089904" y="987552"/>
            <a:ext cx="2743200" cy="475488"/>
          </a:xfrm>
          <a:prstGeom prst="rect">
            <a:avLst/>
          </a:prstGeom>
          <a:solidFill>
            <a:srgbClr val="0A293C"/>
          </a:solidFill>
          <a:ln w="12700">
            <a:solidFill>
              <a:srgbClr val="0A293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81344" y="1042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 &amp; DevOps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089904" y="153619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89904" y="1536192"/>
            <a:ext cx="64008" cy="457200"/>
          </a:xfrm>
          <a:prstGeom prst="rect">
            <a:avLst/>
          </a:prstGeom>
          <a:solidFill>
            <a:srgbClr val="0A293C"/>
          </a:solidFill>
          <a:ln w="12700">
            <a:solidFill>
              <a:srgbClr val="0A293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27064" y="15819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964424" y="160020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DB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089904" y="2048256"/>
            <a:ext cx="2743200" cy="457200"/>
          </a:xfrm>
          <a:prstGeom prst="rect">
            <a:avLst/>
          </a:prstGeom>
          <a:solidFill>
            <a:srgbClr val="D4EFED"/>
          </a:solidFill>
          <a:ln w="12700">
            <a:solidFill>
              <a:srgbClr val="D4EFE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89904" y="2048256"/>
            <a:ext cx="64008" cy="457200"/>
          </a:xfrm>
          <a:prstGeom prst="rect">
            <a:avLst/>
          </a:prstGeom>
          <a:solidFill>
            <a:srgbClr val="0A293C"/>
          </a:solidFill>
          <a:ln w="12700">
            <a:solidFill>
              <a:srgbClr val="0A293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27064" y="20939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964424" y="211226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Driver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089904" y="256032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089904" y="2560320"/>
            <a:ext cx="64008" cy="457200"/>
          </a:xfrm>
          <a:prstGeom prst="rect">
            <a:avLst/>
          </a:prstGeom>
          <a:solidFill>
            <a:srgbClr val="0A293C"/>
          </a:solidFill>
          <a:ln w="12700">
            <a:solidFill>
              <a:srgbClr val="0A293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27064" y="2606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7964424" y="262432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089904" y="3072384"/>
            <a:ext cx="2743200" cy="457200"/>
          </a:xfrm>
          <a:prstGeom prst="rect">
            <a:avLst/>
          </a:prstGeom>
          <a:solidFill>
            <a:srgbClr val="D4EFED"/>
          </a:solidFill>
          <a:ln w="12700">
            <a:solidFill>
              <a:srgbClr val="D4EFE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89904" y="3072384"/>
            <a:ext cx="64008" cy="457200"/>
          </a:xfrm>
          <a:prstGeom prst="rect">
            <a:avLst/>
          </a:prstGeom>
          <a:solidFill>
            <a:srgbClr val="0A293C"/>
          </a:solidFill>
          <a:ln w="12700">
            <a:solidFill>
              <a:srgbClr val="0A293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27064" y="31181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7964424" y="313639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Hosting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089904" y="3584448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89904" y="3584448"/>
            <a:ext cx="64008" cy="457200"/>
          </a:xfrm>
          <a:prstGeom prst="rect">
            <a:avLst/>
          </a:prstGeom>
          <a:solidFill>
            <a:srgbClr val="0A293C"/>
          </a:solidFill>
          <a:ln w="12700">
            <a:solidFill>
              <a:srgbClr val="0A293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27064" y="3630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7964424" y="364845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Hosting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089904" y="4096512"/>
            <a:ext cx="2743200" cy="457200"/>
          </a:xfrm>
          <a:prstGeom prst="rect">
            <a:avLst/>
          </a:prstGeom>
          <a:solidFill>
            <a:srgbClr val="D4EFED"/>
          </a:solidFill>
          <a:ln w="12700">
            <a:solidFill>
              <a:srgbClr val="D4EFE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89904" y="4096512"/>
            <a:ext cx="64008" cy="457200"/>
          </a:xfrm>
          <a:prstGeom prst="rect">
            <a:avLst/>
          </a:prstGeom>
          <a:solidFill>
            <a:srgbClr val="0A293C"/>
          </a:solidFill>
          <a:ln w="12700">
            <a:solidFill>
              <a:srgbClr val="0A293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27064" y="4142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7964424" y="41605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Manager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ProjectPort  |  Technologies Used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9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78408"/>
            <a:ext cx="530352" cy="56692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78408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545336"/>
            <a:ext cx="128016" cy="146304"/>
          </a:xfrm>
          <a:prstGeom prst="rect">
            <a:avLst/>
          </a:prstGeom>
          <a:solidFill>
            <a:srgbClr val="8CA8A6"/>
          </a:solidFill>
          <a:ln w="12700">
            <a:solidFill>
              <a:srgbClr val="8CA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978408"/>
            <a:ext cx="7589520" cy="566928"/>
          </a:xfrm>
          <a:prstGeom prst="rect">
            <a:avLst/>
          </a:prstGeom>
          <a:solidFill>
            <a:srgbClr val="0D3A50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033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Setup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1289304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design, DB schema (schema.sql), API blueprint, folder architecture, Git repo setup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530352" cy="56692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9164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2258568"/>
            <a:ext cx="128016" cy="146304"/>
          </a:xfrm>
          <a:prstGeom prst="rect">
            <a:avLst/>
          </a:prstGeom>
          <a:solidFill>
            <a:srgbClr val="8CA8A6"/>
          </a:solidFill>
          <a:ln w="12700">
            <a:solidFill>
              <a:srgbClr val="8CA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1691640"/>
            <a:ext cx="7589520" cy="566928"/>
          </a:xfrm>
          <a:prstGeom prst="rect">
            <a:avLst/>
          </a:prstGeom>
          <a:solidFill>
            <a:srgbClr val="0D3A50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17465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07008" y="2002536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login/register endpoints, bcrypt hashing, role-based middleware (Client / Admin)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404872"/>
            <a:ext cx="530352" cy="56692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04872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8368" y="2971800"/>
            <a:ext cx="128016" cy="146304"/>
          </a:xfrm>
          <a:prstGeom prst="rect">
            <a:avLst/>
          </a:prstGeom>
          <a:solidFill>
            <a:srgbClr val="8CA8A6"/>
          </a:solidFill>
          <a:ln w="12700">
            <a:solidFill>
              <a:srgbClr val="8CA8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2404872"/>
            <a:ext cx="7589520" cy="566928"/>
          </a:xfrm>
          <a:prstGeom prst="rect">
            <a:avLst/>
          </a:prstGeom>
          <a:solidFill>
            <a:srgbClr val="0D3A50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7008" y="2459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&amp; Quotation System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07008" y="2715768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wizard (multi-step form), real-time SidebarPricing, Quotation Engine (JSON config)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118104"/>
            <a:ext cx="530352" cy="56692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118104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8368" y="3685032"/>
            <a:ext cx="128016" cy="146304"/>
          </a:xfrm>
          <a:prstGeom prst="rect">
            <a:avLst/>
          </a:prstGeom>
          <a:solidFill>
            <a:srgbClr val="8CA8A6"/>
          </a:solidFill>
          <a:ln w="12700">
            <a:solidFill>
              <a:srgbClr val="8CA8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" y="3118104"/>
            <a:ext cx="7589520" cy="566928"/>
          </a:xfrm>
          <a:prstGeom prst="rect">
            <a:avLst/>
          </a:prstGeom>
          <a:solidFill>
            <a:srgbClr val="0D3A50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07008" y="3172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07008" y="3429000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Project conversion, milestone CRUD, payment schedules, Admin &amp; Client dashboards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831336"/>
            <a:ext cx="530352" cy="56692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831336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97280" y="3831336"/>
            <a:ext cx="7589520" cy="566928"/>
          </a:xfrm>
          <a:prstGeom prst="rect">
            <a:avLst/>
          </a:prstGeom>
          <a:solidFill>
            <a:srgbClr val="0D3A50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07008" y="3886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SEO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07008" y="414223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in-app notifications, React Helmet SEO, sitemap.xml generator, PWA manifest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572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Key Features Built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ProjectPort  |  Implementation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1828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Output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987552"/>
            <a:ext cx="2057400" cy="987552"/>
          </a:xfrm>
          <a:prstGeom prst="rect">
            <a:avLst/>
          </a:prstGeom>
          <a:solidFill>
            <a:srgbClr val="0A293C"/>
          </a:solidFill>
          <a:ln w="12700">
            <a:solidFill>
              <a:srgbClr val="126C66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87552"/>
            <a:ext cx="2057400" cy="54864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6070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84048" y="16093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 Rate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987552"/>
            <a:ext cx="2057400" cy="987552"/>
          </a:xfrm>
          <a:prstGeom prst="rect">
            <a:avLst/>
          </a:prstGeom>
          <a:solidFill>
            <a:srgbClr val="0A293C"/>
          </a:solidFill>
          <a:ln w="12700">
            <a:solidFill>
              <a:srgbClr val="F44143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987552"/>
            <a:ext cx="2057400" cy="54864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06070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4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60320" y="16093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Page Load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36592" y="987552"/>
            <a:ext cx="2057400" cy="987552"/>
          </a:xfrm>
          <a:prstGeom prst="rect">
            <a:avLst/>
          </a:prstGeom>
          <a:solidFill>
            <a:srgbClr val="0A293C"/>
          </a:solidFill>
          <a:ln w="12700">
            <a:solidFill>
              <a:srgbClr val="126C66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6592" y="987552"/>
            <a:ext cx="2057400" cy="54864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06070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36592" y="16093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Score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12864" y="987552"/>
            <a:ext cx="2057400" cy="987552"/>
          </a:xfrm>
          <a:prstGeom prst="rect">
            <a:avLst/>
          </a:prstGeom>
          <a:solidFill>
            <a:srgbClr val="0A293C"/>
          </a:solidFill>
          <a:ln w="12700">
            <a:solidFill>
              <a:srgbClr val="F44143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12864" y="987552"/>
            <a:ext cx="2057400" cy="54864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12864" y="106070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4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912864" y="16093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Supported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" y="2121408"/>
            <a:ext cx="4160520" cy="1298448"/>
          </a:xfrm>
          <a:prstGeom prst="rect">
            <a:avLst/>
          </a:prstGeom>
          <a:solidFill>
            <a:srgbClr val="D4EFED"/>
          </a:solidFill>
          <a:ln w="12700">
            <a:solidFill>
              <a:srgbClr val="126C6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84048" y="2121408"/>
            <a:ext cx="4160520" cy="329184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17627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/ Home Page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" y="26883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Placeholder ]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" y="2999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section, Project Wizard entry point, CTA buttons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121408"/>
            <a:ext cx="4160520" cy="1298448"/>
          </a:xfrm>
          <a:prstGeom prst="rect">
            <a:avLst/>
          </a:prstGeom>
          <a:solidFill>
            <a:srgbClr val="D4EFED"/>
          </a:solidFill>
          <a:ln w="12700">
            <a:solidFill>
              <a:srgbClr val="126C6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09160" y="2121408"/>
            <a:ext cx="4160520" cy="329184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17627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Project Wizard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18888" y="26883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Placeholder ]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18888" y="2999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form with real-time price calculation sidebar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" y="3566160"/>
            <a:ext cx="4160520" cy="1298448"/>
          </a:xfrm>
          <a:prstGeom prst="rect">
            <a:avLst/>
          </a:prstGeom>
          <a:solidFill>
            <a:srgbClr val="D4EFED"/>
          </a:solidFill>
          <a:ln w="12700">
            <a:solidFill>
              <a:srgbClr val="126C6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84048" y="3566160"/>
            <a:ext cx="4160520" cy="329184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362102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Leads Dashboard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" y="4133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Placeholder ]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3776" y="44439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table, convert to project button, status badges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3566160"/>
            <a:ext cx="4160520" cy="1298448"/>
          </a:xfrm>
          <a:prstGeom prst="rect">
            <a:avLst/>
          </a:prstGeom>
          <a:solidFill>
            <a:srgbClr val="D4EFED"/>
          </a:solidFill>
          <a:ln w="12700">
            <a:solidFill>
              <a:srgbClr val="126C6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709160" y="3566160"/>
            <a:ext cx="4160520" cy="329184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62102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Dashboard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18888" y="4133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D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Placeholder ]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18888" y="44439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status, milestones, payment tracker, notifications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ProjectPort  |  Results &amp; Output</a:t>
            </a:r>
            <a:endParaRPr lang="en-US" sz="1000" dirty="0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591" y="2471651"/>
            <a:ext cx="4133089" cy="948206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92" y="3928529"/>
            <a:ext cx="4151376" cy="93608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92" y="2450592"/>
            <a:ext cx="4151376" cy="969265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591" y="3895344"/>
            <a:ext cx="4133088" cy="9692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9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960120"/>
            <a:ext cx="4206240" cy="402336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01498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Technical Challenges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435608"/>
            <a:ext cx="4206240" cy="731520"/>
          </a:xfrm>
          <a:prstGeom prst="rect">
            <a:avLst/>
          </a:prstGeom>
          <a:solidFill>
            <a:srgbClr val="0D3A50"/>
          </a:solidFill>
          <a:ln w="12700">
            <a:solidFill>
              <a:srgbClr val="126C6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" y="1490472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Automated Quotation 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" y="1764792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complex Excel pricing rules into a reliable real-time JSON-driven pricing system.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240280"/>
            <a:ext cx="4206240" cy="731520"/>
          </a:xfrm>
          <a:prstGeom prst="rect">
            <a:avLst/>
          </a:prstGeom>
          <a:solidFill>
            <a:srgbClr val="0D3A50"/>
          </a:solidFill>
          <a:ln w="12700">
            <a:solidFill>
              <a:srgbClr val="126C6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" y="2295144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Role-Based Access Control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" y="2569464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Seamlessly handling 3 user roles (Client/Admin/Dev) across frontend routes and backend middleware.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3044952"/>
            <a:ext cx="4206240" cy="731520"/>
          </a:xfrm>
          <a:prstGeom prst="rect">
            <a:avLst/>
          </a:prstGeom>
          <a:solidFill>
            <a:srgbClr val="0D3A50"/>
          </a:solidFill>
          <a:ln w="12700">
            <a:solidFill>
              <a:srgbClr val="126C6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" y="3099816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MySQL Relational Schema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" y="3374136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normalized database that cleanly represents leads → projects → milestones → payments.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849624"/>
            <a:ext cx="4206240" cy="731520"/>
          </a:xfrm>
          <a:prstGeom prst="rect">
            <a:avLst/>
          </a:prstGeom>
          <a:solidFill>
            <a:srgbClr val="0D3A50"/>
          </a:solidFill>
          <a:ln w="12700">
            <a:solidFill>
              <a:srgbClr val="126C6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" y="3904488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JWT Security in Production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" y="417880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token expiry, refresh flows and httpOnly cookie options securely across environments.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18888" y="960120"/>
            <a:ext cx="4206240" cy="402336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8616" y="101498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Team &amp; Project Challenges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18888" y="1435608"/>
            <a:ext cx="4206240" cy="731520"/>
          </a:xfrm>
          <a:prstGeom prst="rect">
            <a:avLst/>
          </a:prstGeom>
          <a:solidFill>
            <a:srgbClr val="0D3A50"/>
          </a:solidFill>
          <a:ln w="12700">
            <a:solidFill>
              <a:srgbClr val="F4414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28616" y="1490472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Parallel Development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28616" y="1764792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frontend and backend work simultaneously without blocking each other on API contracts.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18888" y="2240280"/>
            <a:ext cx="4206240" cy="731520"/>
          </a:xfrm>
          <a:prstGeom prst="rect">
            <a:avLst/>
          </a:prstGeom>
          <a:solidFill>
            <a:srgbClr val="0D3A50"/>
          </a:solidFill>
          <a:ln w="12700">
            <a:solidFill>
              <a:srgbClr val="F4414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28616" y="2295144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Git Merge Conflicts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28616" y="2569464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conflicts during feature branch merges required a clear branching and PR review strategy.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18888" y="3044952"/>
            <a:ext cx="4206240" cy="731520"/>
          </a:xfrm>
          <a:prstGeom prst="rect">
            <a:avLst/>
          </a:prstGeom>
          <a:solidFill>
            <a:srgbClr val="0D3A50"/>
          </a:solidFill>
          <a:ln w="12700">
            <a:solidFill>
              <a:srgbClr val="F4414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28616" y="3099816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Consistent UI/UX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28616" y="3374136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design coherence across pages built by different team members using a shared component library.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18888" y="3849624"/>
            <a:ext cx="4206240" cy="731520"/>
          </a:xfrm>
          <a:prstGeom prst="rect">
            <a:avLst/>
          </a:prstGeom>
          <a:solidFill>
            <a:srgbClr val="0D3A50"/>
          </a:solidFill>
          <a:ln w="12700">
            <a:solidFill>
              <a:srgbClr val="F4414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28616" y="3904488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Scope Management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28616" y="4178808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feature set realistic for the timeline while planning the developer module for future sprints.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84048" y="4645152"/>
            <a:ext cx="8375904" cy="20116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6542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 Strategy: Agile sprints + feature branching + weekly syncs + shared API contract documentation resolved coordination issues.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ProjectPort  |  Challenges Faced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1828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Roadmap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987552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87552"/>
            <a:ext cx="2743200" cy="47548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87168" y="1078992"/>
            <a:ext cx="5486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87168" y="10789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93776" y="1078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 Notifications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" y="158191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integration for critical event alerts — project updates, payment reminders, milestone completions.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36976" y="987552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36976" y="987552"/>
            <a:ext cx="2743200" cy="47548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0096" y="1078992"/>
            <a:ext cx="5486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0096" y="10789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4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46704" y="1078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File Upload &amp; Docs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46704" y="158191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briefs, designs and deliverables directly to projects using cloud storage (AWS S3).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9904" y="987552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987552"/>
            <a:ext cx="2743200" cy="47548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3024" y="1078992"/>
            <a:ext cx="5486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3024" y="10789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99632" y="10789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Payment Gateway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99632" y="158191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/ Stripe integration for in-platform payments, automated receipts and GST invoices.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" y="2907792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2907792"/>
            <a:ext cx="2743200" cy="47548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87168" y="2999232"/>
            <a:ext cx="5486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87168" y="2999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4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3776" y="29992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" y="350215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apps for iOS &amp; Android enabling on-the-go project management and push notifications.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36976" y="2907792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36976" y="2907792"/>
            <a:ext cx="2743200" cy="47548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40096" y="2999232"/>
            <a:ext cx="5486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0096" y="2999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46704" y="29992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Quotation Engine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46704" y="350215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intelligent pricing using historical project data — smarter, more accurate estimates.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89904" y="2907792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F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9904" y="2907792"/>
            <a:ext cx="2743200" cy="47548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93024" y="2999232"/>
            <a:ext cx="5486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93024" y="2999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4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99632" y="29992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Advanced Analytics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199632" y="3502152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dashboards, lead conversion funnels, team performance metrics and exportable PDF/Excel reports.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ProjectPort  |  Future Scope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9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0"/>
            <a:ext cx="320040" cy="5143500"/>
          </a:xfrm>
          <a:prstGeom prst="rect">
            <a:avLst/>
          </a:prstGeom>
          <a:solidFill>
            <a:srgbClr val="0D4F4A"/>
          </a:solidFill>
          <a:ln w="12700">
            <a:solidFill>
              <a:srgbClr val="0D4F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8229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28600" y="1463040"/>
            <a:ext cx="338328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600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ProjectPort successfully demonstrates how a focused student team can design and implement an enterprise-grade, full-stack SaaS product using modern open-source technologies.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" y="26517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live at</a:t>
            </a:r>
            <a:endParaRPr lang="en-US" sz="1300" dirty="0"/>
          </a:p>
          <a:p>
            <a:pPr marL="0" indent="0">
              <a:buNone/>
            </a:pPr>
            <a:r>
              <a:rPr lang="en-US" sz="1300" b="1" i="1" dirty="0">
                <a:solidFill>
                  <a:srgbClr val="D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projectsport.vercel.app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" y="342900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‍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Gupta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aryan@engineer.com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+91-6205650368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aryanony</a:t>
            </a:r>
            <a:endParaRPr lang="en-US" sz="1200" dirty="0" smtClean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dirty="0" err="1" smtClean="0">
                <a:solidFill>
                  <a:schemeClr val="bg1"/>
                </a:solidFill>
              </a:rPr>
              <a:t>ℹn</a:t>
            </a:r>
            <a:r>
              <a:rPr lang="en-US" sz="1200" dirty="0" smtClean="0">
                <a:solidFill>
                  <a:schemeClr val="bg1"/>
                </a:solidFill>
              </a:rPr>
              <a:t>  linkedin.com/in/</a:t>
            </a:r>
            <a:r>
              <a:rPr lang="en-US" sz="1200" dirty="0" err="1" smtClean="0">
                <a:solidFill>
                  <a:schemeClr val="bg1"/>
                </a:solidFill>
              </a:rPr>
              <a:t>aryanony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51960" y="502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Key Achievements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005840"/>
            <a:ext cx="4572000" cy="457200"/>
          </a:xfrm>
          <a:prstGeom prst="rect">
            <a:avLst/>
          </a:prstGeom>
          <a:solidFill>
            <a:srgbClr val="0D3A50"/>
          </a:solidFill>
          <a:ln w="12700">
            <a:solidFill>
              <a:srgbClr val="126C6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1005840"/>
            <a:ext cx="64008" cy="45720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05156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 a complete Lead → Quotation → Project → Payment workflow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572000" cy="457200"/>
          </a:xfrm>
          <a:prstGeom prst="rect">
            <a:avLst/>
          </a:prstGeom>
          <a:solidFill>
            <a:srgbClr val="0D3A50"/>
          </a:solidFill>
          <a:ln w="12700">
            <a:solidFill>
              <a:srgbClr val="F4414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51960" y="1527048"/>
            <a:ext cx="64008" cy="457200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57276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quotation engine with Excel-driven JSON pricing config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2048256"/>
            <a:ext cx="4572000" cy="457200"/>
          </a:xfrm>
          <a:prstGeom prst="rect">
            <a:avLst/>
          </a:prstGeom>
          <a:solidFill>
            <a:srgbClr val="0D3A50"/>
          </a:solidFill>
          <a:ln w="12700">
            <a:solidFill>
              <a:srgbClr val="126C6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51960" y="2048256"/>
            <a:ext cx="64008" cy="45720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209397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Role-based access: Client, Admin &amp; Developer portals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51960" y="2569464"/>
            <a:ext cx="4572000" cy="457200"/>
          </a:xfrm>
          <a:prstGeom prst="rect">
            <a:avLst/>
          </a:prstGeom>
          <a:solidFill>
            <a:srgbClr val="0D3A50"/>
          </a:solidFill>
          <a:ln w="12700">
            <a:solidFill>
              <a:srgbClr val="F4414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51960" y="2569464"/>
            <a:ext cx="64008" cy="457200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261518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JWT authentication with bcrypt + parameterized SQL queries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51960" y="3090672"/>
            <a:ext cx="4572000" cy="457200"/>
          </a:xfrm>
          <a:prstGeom prst="rect">
            <a:avLst/>
          </a:prstGeom>
          <a:solidFill>
            <a:srgbClr val="0D3A50"/>
          </a:solidFill>
          <a:ln w="12700">
            <a:solidFill>
              <a:srgbClr val="126C6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3090672"/>
            <a:ext cx="64008" cy="45720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313639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optimized with React Helmet, sitemap &amp; PWA manifest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51960" y="3611880"/>
            <a:ext cx="4572000" cy="457200"/>
          </a:xfrm>
          <a:prstGeom prst="rect">
            <a:avLst/>
          </a:prstGeom>
          <a:solidFill>
            <a:srgbClr val="0D3A50"/>
          </a:solidFill>
          <a:ln w="12700">
            <a:solidFill>
              <a:srgbClr val="F4414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51960" y="3611880"/>
            <a:ext cx="64008" cy="457200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365760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Deployed live on Vercel with CI/CD via GitHub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51960" y="4133088"/>
            <a:ext cx="4572000" cy="457200"/>
          </a:xfrm>
          <a:prstGeom prst="rect">
            <a:avLst/>
          </a:prstGeom>
          <a:solidFill>
            <a:srgbClr val="0D3A50"/>
          </a:solidFill>
          <a:ln w="12700">
            <a:solidFill>
              <a:srgbClr val="126C6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51960" y="4133088"/>
            <a:ext cx="64008" cy="45720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417880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Responsive mobile-first design with Tailwind CSS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  |  Questions welcome 🙏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201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1828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987552"/>
            <a:ext cx="8412480" cy="347472"/>
          </a:xfrm>
          <a:prstGeom prst="rect">
            <a:avLst/>
          </a:prstGeom>
          <a:solidFill>
            <a:srgbClr val="0A293C"/>
          </a:solidFill>
          <a:ln w="12700">
            <a:solidFill>
              <a:srgbClr val="0A29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Books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399032"/>
            <a:ext cx="164592" cy="201168"/>
          </a:xfrm>
          <a:prstGeom prst="rect">
            <a:avLst/>
          </a:prstGeom>
          <a:solidFill>
            <a:srgbClr val="0A293C"/>
          </a:solidFill>
          <a:ln w="12700">
            <a:solidFill>
              <a:srgbClr val="0A29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37160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Sommerville, I. (2016). Software Engineering (10th ed.). Pearson Education.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164592" cy="201168"/>
          </a:xfrm>
          <a:prstGeom prst="rect">
            <a:avLst/>
          </a:prstGeom>
          <a:solidFill>
            <a:srgbClr val="0A293C"/>
          </a:solidFill>
          <a:ln w="12700">
            <a:solidFill>
              <a:srgbClr val="0A29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66420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Flanagan, D. (2020). JavaScript: The Definitive Guide (7th ed.). O'Reilly Media.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1984248"/>
            <a:ext cx="164592" cy="201168"/>
          </a:xfrm>
          <a:prstGeom prst="rect">
            <a:avLst/>
          </a:prstGeom>
          <a:solidFill>
            <a:srgbClr val="0A293C"/>
          </a:solidFill>
          <a:ln w="12700">
            <a:solidFill>
              <a:srgbClr val="0A29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956816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Martin, R. C. (2017). Clean Architecture. Prentice Hall.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2377440"/>
            <a:ext cx="8412480" cy="347472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323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Official Documentation &amp; Websites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164592" cy="20116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76148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Documentation – https://react.dev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081528"/>
            <a:ext cx="164592" cy="20116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054096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Official Site – https://nodejs.org  |  Express.js – https://expressjs.com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374136"/>
            <a:ext cx="164592" cy="20116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346704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Reference Manual – https://dev.mysql.com/doc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666744"/>
            <a:ext cx="164592" cy="20116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639312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Docs – https://tailwindcss.com/docs  |  Vite – https://vitejs.dev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959352"/>
            <a:ext cx="164592" cy="20116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93192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Deployment Docs – https://vercel.com/docs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" y="4352544"/>
            <a:ext cx="8412480" cy="347472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40740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Research Papers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4764024"/>
            <a:ext cx="164592" cy="20116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736592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 (2024). Global Freelance Platforms Market Size &amp; Growth Report.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5056632"/>
            <a:ext cx="164592" cy="20116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502920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(2022). Microservice Architecture Patterns for Scalable Web Applications. IEEE Transactions on Software Engineering, 28(1).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5349240"/>
            <a:ext cx="164592" cy="201168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5321808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Ghosh, R. et al. (2021). The Gig Economy and Digital Platforms. Journal of Digital Labor, 12(3), 45–67.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84048" y="4608576"/>
            <a:ext cx="8412480" cy="329184"/>
          </a:xfrm>
          <a:prstGeom prst="rect">
            <a:avLst/>
          </a:prstGeom>
          <a:solidFill>
            <a:srgbClr val="0A293C"/>
          </a:solidFill>
          <a:ln w="12700">
            <a:solidFill>
              <a:srgbClr val="0A29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4608576"/>
            <a:ext cx="64008" cy="329184"/>
          </a:xfrm>
          <a:prstGeom prst="rect">
            <a:avLst/>
          </a:prstGeom>
          <a:solidFill>
            <a:srgbClr val="F44143"/>
          </a:solidFill>
          <a:ln w="12700">
            <a:solidFill>
              <a:srgbClr val="F441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6542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 ProjectPort — Built with React, Node.js, Express &amp; MySQL  |  github.com/aryanony/ProjectPort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6C66"/>
          </a:solidFill>
          <a:ln w="12700">
            <a:solidFill>
              <a:srgbClr val="126C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ProjectPort  |  References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1800</Words>
  <Application>Microsoft Office PowerPoint</Application>
  <PresentationFormat>On-screen Show (16:9)</PresentationFormat>
  <Paragraphs>308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ProjectPort – Full Stack Project Management Platform</dc:title>
  <dc:subject>PptxGenJS Presentation</dc:subject>
  <dc:creator>Aryan Gupta</dc:creator>
  <cp:lastModifiedBy>aRya</cp:lastModifiedBy>
  <cp:revision>11</cp:revision>
  <dcterms:created xsi:type="dcterms:W3CDTF">2026-02-23T18:17:50Z</dcterms:created>
  <dcterms:modified xsi:type="dcterms:W3CDTF">2026-02-26T14:36:56Z</dcterms:modified>
</cp:coreProperties>
</file>